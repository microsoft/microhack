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8" Type="http://schemas.openxmlformats.org/officeDocument/2006/relationships/hyperlink" Target="https://github.com/glejdis/microhack-aiagents" TargetMode="External"/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2.png"/><Relationship Id="rId7" Type="http://schemas.openxmlformats.org/officeDocument/2006/relationships/image" Target="../media/image-1-2.png"/><Relationship Id="rId9" Type="http://schemas.openxmlformats.org/officeDocument/2006/relationships/image" Target="../media/image-1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1161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Hacks</a:t>
            </a:r>
            <a:pPr algn="l" indent="0" marL="0">
              <a:buNone/>
            </a:pPr>
            <a:r>
              <a:rPr lang="en-US" sz="2700" b="1" dirty="0">
                <a:solidFill>
                  <a:srgbClr val="9D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|  </a:t>
            </a:r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Lifecycle Management</a:t>
            </a:r>
            <a:endParaRPr lang="en-US" sz="2700" dirty="0"/>
          </a:p>
        </p:txBody>
      </p:sp>
      <p:pic>
        <p:nvPicPr>
          <p:cNvPr id="3" name="Image 0" descr="header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0"/>
            <a:ext cx="5650992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" y="822960"/>
            <a:ext cx="31080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270455" y="822960"/>
            <a:ext cx="35451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Reg Page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Invitation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Marketing BOM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pic>
        <p:nvPicPr>
          <p:cNvPr id="6" name="Image 1" descr="header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80160"/>
            <a:ext cx="5650992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12801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92608" y="1627632"/>
            <a:ext cx="56509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38912" y="1700784"/>
            <a:ext cx="53583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Enterprises sign hundreds of contracts a month. Legal &amp; Procurement drown in intake, clause review and renewals — ~17-day turnaround and ~11% of auto-renewals missed.</a:t>
            </a:r>
            <a:endParaRPr lang="en-US" sz="9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CLM is scattered across SharePoint, email and legacy systems; comparing a counterparty draft to the enterprise standard is slow and manual.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pPr algn="l" indent="0" marL="0">
              <a:buNone/>
            </a:pPr>
            <a:r>
              <a:rPr lang="en-US" sz="9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Agentic CLM </a:t>
            </a:r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puts an orchestrator + grounded specialist agents on top: draft from approved templates, extract and risk-score clauses, answer cited questions, and proactively alert on renewals — with human sign-off and full tracing.</a:t>
            </a:r>
            <a:endParaRPr lang="en-US" sz="950" dirty="0"/>
          </a:p>
        </p:txBody>
      </p:sp>
      <p:pic>
        <p:nvPicPr>
          <p:cNvPr id="10" name="Image 2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108960"/>
            <a:ext cx="5650992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0624" y="31089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to be built in the Hack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292608" y="3456432"/>
            <a:ext cx="5650992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438912" y="3456432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i="1" dirty="0">
                <a:solidFill>
                  <a:srgbClr val="4458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GPT Orchestrator coordinating 3 grounded specialist agents — a build slice of the 5-agent CLM vision.</a:t>
            </a:r>
            <a:endParaRPr lang="en-US" sz="880" dirty="0"/>
          </a:p>
        </p:txBody>
      </p:sp>
      <p:sp>
        <p:nvSpPr>
          <p:cNvPr id="14" name="Shape 9"/>
          <p:cNvSpPr/>
          <p:nvPr/>
        </p:nvSpPr>
        <p:spPr>
          <a:xfrm>
            <a:off x="292608" y="3822192"/>
            <a:ext cx="5650992" cy="2724912"/>
          </a:xfrm>
          <a:prstGeom prst="roundRect">
            <a:avLst>
              <a:gd name="adj" fmla="val 2349"/>
            </a:avLst>
          </a:prstGeom>
          <a:solidFill>
            <a:srgbClr val="0E2440"/>
          </a:solidFill>
          <a:ln w="12700">
            <a:solidFill>
              <a:srgbClr val="0E2440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38912" y="3950208"/>
            <a:ext cx="5358384" cy="310896"/>
          </a:xfrm>
          <a:prstGeom prst="roundRect">
            <a:avLst>
              <a:gd name="adj" fmla="val 11765"/>
            </a:avLst>
          </a:prstGeom>
          <a:solidFill>
            <a:srgbClr val="543A8C"/>
          </a:solidFill>
          <a:ln/>
        </p:spPr>
      </p:sp>
      <p:sp>
        <p:nvSpPr>
          <p:cNvPr id="16" name="Text 11"/>
          <p:cNvSpPr/>
          <p:nvPr/>
        </p:nvSpPr>
        <p:spPr>
          <a:xfrm>
            <a:off x="438912" y="3950208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AGENT</a:t>
            </a:r>
            <a:pPr algn="ctr" indent="0" marL="0">
              <a:buNone/>
            </a:pPr>
            <a:r>
              <a:rPr lang="en-US" sz="1000" dirty="0">
                <a:solidFill>
                  <a:srgbClr val="C9B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  ·    GPT-5.4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1289304" y="426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38912" y="446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19" name="Text 14"/>
          <p:cNvSpPr/>
          <p:nvPr/>
        </p:nvSpPr>
        <p:spPr>
          <a:xfrm>
            <a:off x="475488" y="446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&amp; Drafting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from templates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Opus 4.8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3118104" y="426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267712" y="446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2" name="Text 17"/>
          <p:cNvSpPr/>
          <p:nvPr/>
        </p:nvSpPr>
        <p:spPr>
          <a:xfrm>
            <a:off x="2304288" y="446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Clause &amp; Risk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· compare · score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GPT-5.6 Sol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46904" y="426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096512" y="446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5" name="Text 20"/>
          <p:cNvSpPr/>
          <p:nvPr/>
        </p:nvSpPr>
        <p:spPr>
          <a:xfrm>
            <a:off x="4133088" y="446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Obligation &amp; Renewal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Teams alerts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GPT-5-mini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38912" y="5449824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7" name="Text 22"/>
          <p:cNvSpPr/>
          <p:nvPr/>
        </p:nvSpPr>
        <p:spPr>
          <a:xfrm>
            <a:off x="438912" y="5449824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 ·  Azure AI Search  ·  Azure SQL  ·  Bing web search  ·  MCP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38912" y="5779008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9" name="Text 24"/>
          <p:cNvSpPr/>
          <p:nvPr/>
        </p:nvSpPr>
        <p:spPr>
          <a:xfrm>
            <a:off x="438912" y="5779008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Insights  ·  Tracing  ·  Evaluations  ·  Content Safety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38912" y="610819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FE7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  Published to Microsoft 365 Copilot &amp; Teams  (+ proactive alerts)</a:t>
            </a:r>
            <a:endParaRPr lang="en-US" sz="850" dirty="0"/>
          </a:p>
        </p:txBody>
      </p:sp>
      <p:pic>
        <p:nvPicPr>
          <p:cNvPr id="31" name="Image 3" descr="header_gradi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822960"/>
            <a:ext cx="5742432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72784" y="822960"/>
            <a:ext cx="3158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2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1225296"/>
          <a:ext cx="57424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70832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09:00 – 10:00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 Talk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10:00 – 12:30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(2h30) — Challenges 0, 1,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12:30 – 13:30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Lunch break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13:30 – 15:30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(2h) — Challenges 3, 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15:30 – 16:00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discussion / Wrap up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Image 4" descr="header_gradi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706624"/>
            <a:ext cx="5742432" cy="32918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72784" y="2706624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Talk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8154619" y="2706624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Agnostic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FSI-Legal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6144768" y="3054096"/>
            <a:ext cx="5742432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38" name="Text 30"/>
          <p:cNvSpPr/>
          <p:nvPr/>
        </p:nvSpPr>
        <p:spPr>
          <a:xfrm>
            <a:off x="6291072" y="3108960"/>
            <a:ext cx="5449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the stage on Agentic AI + the Foundry platform, the CLM scenario and the IQ family (Foundry IQ / Web IQ). Includes a short demo of the assistant answering in Teams and firing a renewal alert. Two decks: FSI-Legal + industry-agnostic.</a:t>
            </a:r>
            <a:endParaRPr lang="en-US" sz="930" dirty="0"/>
          </a:p>
        </p:txBody>
      </p:sp>
      <p:pic>
        <p:nvPicPr>
          <p:cNvPr id="39" name="Image 5" descr="header_gradi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4768" y="4096512"/>
            <a:ext cx="5742432" cy="3291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272784" y="4096512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8154619" y="409651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GitHub Repo </a:t>
            </a:r>
            <a:pPr algn="r" indent="0" marL="0">
              <a:buNone/>
            </a:pPr>
            <a:r>
              <a:rPr lang="en-US" sz="850" b="1" u="sng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Train the Trainer video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4443984"/>
          <a:ext cx="5742432" cy="914400"/>
        </p:xfrm>
        <a:graphic>
          <a:graphicData uri="http://schemas.openxmlformats.org/drawingml/2006/table">
            <a:tbl>
              <a:tblPr/>
              <a:tblGrid>
                <a:gridCol w="4919472"/>
                <a:gridCol w="82296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Description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  Resource Deployment · Codespaces · .env · Corpus seeding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  Intake &amp; Drafting Agent + Foundry IQ + Tools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  Observability, Tracing &amp; Evaluation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  Clause &amp; Risk Agent + Orchestrator + MCP Server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  Publish to M365 Copilot &amp; Teams + Proactive Alerts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 xml:space="preserve">5   Safety, Red-Teaming &amp; Continuous Eval  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Bonus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A8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3" name="Image 6" descr="header_gradi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6199632"/>
            <a:ext cx="5742432" cy="32918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272784" y="6199632"/>
            <a:ext cx="49384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Learning Material for Trainers or Participants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8154619" y="619963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Hacks | Contract Lifecycle Management</dc:title>
  <dc:subject>PptxGenJS Presentation</dc:subject>
  <dc:creator>Microhack</dc:creator>
  <cp:lastModifiedBy>Microhack</cp:lastModifiedBy>
  <cp:revision>1</cp:revision>
  <dcterms:created xsi:type="dcterms:W3CDTF">2026-07-19T20:00:20Z</dcterms:created>
  <dcterms:modified xsi:type="dcterms:W3CDTF">2026-07-19T20:00:20Z</dcterms:modified>
</cp:coreProperties>
</file>