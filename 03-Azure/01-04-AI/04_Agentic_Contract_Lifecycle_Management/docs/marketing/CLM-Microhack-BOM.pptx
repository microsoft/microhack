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8" Type="http://schemas.openxmlformats.org/officeDocument/2006/relationships/hyperlink" Target="https://github.com/glejdis/microhack-aiagents" TargetMode="External"/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image" Target="../media/image-1-2.png"/><Relationship Id="rId4" Type="http://schemas.openxmlformats.org/officeDocument/2006/relationships/image" Target="../media/image-1-2.png"/><Relationship Id="rId5" Type="http://schemas.openxmlformats.org/officeDocument/2006/relationships/image" Target="../media/image-1-2.png"/><Relationship Id="rId6" Type="http://schemas.openxmlformats.org/officeDocument/2006/relationships/image" Target="../media/image-1-2.png"/><Relationship Id="rId7" Type="http://schemas.openxmlformats.org/officeDocument/2006/relationships/image" Target="../media/image-1-2.png"/><Relationship Id="rId9" Type="http://schemas.openxmlformats.org/officeDocument/2006/relationships/image" Target="../media/image-1-2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92608" y="128016"/>
            <a:ext cx="11612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F6F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Agentic AI Hacks</a:t>
            </a:r>
            <a:pPr algn="l" indent="0" marL="0">
              <a:buNone/>
            </a:pPr>
            <a:r>
              <a:rPr lang="en-US" sz="2700" b="1" dirty="0">
                <a:solidFill>
                  <a:srgbClr val="9DB4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 xml:space="preserve">  |  </a:t>
            </a:r>
            <a:pPr algn="l" indent="0" marL="0">
              <a:buNone/>
            </a:pPr>
            <a:r>
              <a:rPr lang="en-US" sz="2700" b="1" dirty="0">
                <a:solidFill>
                  <a:srgbClr val="1F6F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Contract Lifecycle Management</a:t>
            </a:r>
            <a:endParaRPr lang="en-US" sz="2700" dirty="0"/>
          </a:p>
        </p:txBody>
      </p:sp>
      <p:pic>
        <p:nvPicPr>
          <p:cNvPr id="3" name="Image 0" descr="header_gradi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822960"/>
            <a:ext cx="5650992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20624" y="822960"/>
            <a:ext cx="31080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BOM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2270455" y="822960"/>
            <a:ext cx="35451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 xml:space="preserve">Reg Page Copy </a:t>
            </a:r>
            <a:pPr algn="r" indent="0" marL="0">
              <a:buNone/>
            </a:pPr>
            <a:r>
              <a:rPr lang="en-US" sz="850" b="1" dirty="0">
                <a:solidFill>
                  <a:srgbClr val="F4C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HERE</a:t>
            </a:r>
            <a:pPr algn="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 xml:space="preserve"> / Invitation Copy </a:t>
            </a:r>
            <a:pPr algn="r" indent="0" marL="0">
              <a:buNone/>
            </a:pPr>
            <a:r>
              <a:rPr lang="en-US" sz="850" b="1" dirty="0">
                <a:solidFill>
                  <a:srgbClr val="F4C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HERE</a:t>
            </a:r>
            <a:pPr algn="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 xml:space="preserve"> / Marketing BOM </a:t>
            </a:r>
            <a:pPr algn="r" indent="0" marL="0">
              <a:buNone/>
            </a:pPr>
            <a:r>
              <a:rPr lang="en-US" sz="850" b="1" dirty="0">
                <a:solidFill>
                  <a:srgbClr val="F4C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HERE</a:t>
            </a:r>
            <a:endParaRPr lang="en-US" sz="850" dirty="0"/>
          </a:p>
        </p:txBody>
      </p:sp>
      <p:pic>
        <p:nvPicPr>
          <p:cNvPr id="6" name="Image 1" descr="header_gradi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280160"/>
            <a:ext cx="5650992" cy="329184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20624" y="1280160"/>
            <a:ext cx="310804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 case</a:t>
            </a:r>
            <a:endParaRPr lang="en-US" sz="1250" dirty="0"/>
          </a:p>
        </p:txBody>
      </p:sp>
      <p:sp>
        <p:nvSpPr>
          <p:cNvPr id="8" name="Shape 4"/>
          <p:cNvSpPr/>
          <p:nvPr/>
        </p:nvSpPr>
        <p:spPr>
          <a:xfrm>
            <a:off x="292608" y="1627632"/>
            <a:ext cx="5650992" cy="161086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C9D6E5"/>
            </a:solidFill>
            <a:prstDash val="solid"/>
          </a:ln>
          <a:effectLst>
            <a:outerShdw sx="100000" sy="100000" kx="0" ky="0" algn="bl" rotWithShape="0" blurRad="63500" dist="25400" dir="8100000">
              <a:srgbClr val="1F3864">
                <a:alpha val="12000"/>
              </a:srgbClr>
            </a:outerShdw>
          </a:effectLst>
        </p:spPr>
      </p:sp>
      <p:sp>
        <p:nvSpPr>
          <p:cNvPr id="9" name="Text 5"/>
          <p:cNvSpPr/>
          <p:nvPr/>
        </p:nvSpPr>
        <p:spPr>
          <a:xfrm>
            <a:off x="438912" y="1700784"/>
            <a:ext cx="5358384" cy="15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Enterprises sign hundreds of contracts a month. Legal &amp; Procurement drown in intake, clause review and renewals — ~17-day turnaround and ~11% of auto-renewals missed.</a:t>
            </a:r>
            <a:endParaRPr lang="en-US" sz="9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Traditional CLM is scattered across SharePoint, email and legacy systems; comparing a counterparty draft to the enterprise standard is slow and manual.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/>
            </a:r>
            <a:pPr algn="l" indent="0" marL="0">
              <a:buNone/>
            </a:pPr>
            <a:r>
              <a:rPr lang="en-US" sz="950" b="1" dirty="0">
                <a:solidFill>
                  <a:srgbClr val="1F6F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 xml:space="preserve">Agentic CLM </a:t>
            </a:r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puts an orchestrator + grounded specialist agents on top: draft from approved templates, extract and risk-score clauses, answer cited questions, and proactively alert on renewals — with human sign-off and full tracing.</a:t>
            </a:r>
            <a:endParaRPr lang="en-US" sz="950" dirty="0"/>
          </a:p>
          <a:p>
            <a:pPr algn="l" indent="0" marL="0">
              <a:spcBef>
                <a:spcPts val="600"/>
              </a:spcBef>
              <a:buNone/>
            </a:pPr>
            <a:r>
              <a:rPr lang="en-US" sz="950" b="1" dirty="0">
                <a:solidFill>
                  <a:srgbClr val="1F6F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 xml:space="preserve">Concretely: </a:t>
            </a:r>
            <a:r>
              <a:rPr lang="en-US" sz="95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cited template drafts, risk-scored clauses, and human-approved renewal alerts.</a:t>
            </a:r>
            <a:endParaRPr lang="en-US" sz="950" dirty="0"/>
          </a:p>
        </p:txBody>
      </p:sp>
      <p:pic>
        <p:nvPicPr>
          <p:cNvPr id="10" name="Image 2" descr="header_gradi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2608" y="3328960"/>
            <a:ext cx="5650992" cy="329184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420624" y="3328960"/>
            <a:ext cx="310804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Architecture to be built in the Hack</a:t>
            </a:r>
            <a:endParaRPr lang="en-US" sz="1250" dirty="0"/>
          </a:p>
        </p:txBody>
      </p:sp>
      <p:sp>
        <p:nvSpPr>
          <p:cNvPr id="12" name="Shape 7"/>
          <p:cNvSpPr/>
          <p:nvPr/>
        </p:nvSpPr>
        <p:spPr>
          <a:xfrm>
            <a:off x="292608" y="3676432"/>
            <a:ext cx="5650992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9D6E5"/>
            </a:solidFill>
            <a:prstDash val="solid"/>
          </a:ln>
          <a:effectLst>
            <a:outerShdw sx="100000" sy="100000" kx="0" ky="0" algn="bl" rotWithShape="0" blurRad="63500" dist="25400" dir="8100000">
              <a:srgbClr val="1F3864">
                <a:alpha val="12000"/>
              </a:srgbClr>
            </a:outerShdw>
          </a:effectLst>
        </p:spPr>
      </p:sp>
      <p:sp>
        <p:nvSpPr>
          <p:cNvPr id="13" name="Text 8"/>
          <p:cNvSpPr/>
          <p:nvPr/>
        </p:nvSpPr>
        <p:spPr>
          <a:xfrm>
            <a:off x="438912" y="3676432"/>
            <a:ext cx="5358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80" i="1" dirty="0">
                <a:solidFill>
                  <a:srgbClr val="4458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GPT Orchestrator coordinating 3 grounded specialist agents — a build slice of the 5-agent CLM vision.</a:t>
            </a:r>
            <a:endParaRPr lang="en-US" sz="880" dirty="0"/>
          </a:p>
        </p:txBody>
      </p:sp>
      <p:sp>
        <p:nvSpPr>
          <p:cNvPr id="14" name="Shape 9"/>
          <p:cNvSpPr/>
          <p:nvPr/>
        </p:nvSpPr>
        <p:spPr>
          <a:xfrm>
            <a:off x="292608" y="4042192"/>
            <a:ext cx="5650992" cy="2724912"/>
          </a:xfrm>
          <a:prstGeom prst="roundRect">
            <a:avLst>
              <a:gd name="adj" fmla="val 2349"/>
            </a:avLst>
          </a:prstGeom>
          <a:solidFill>
            <a:srgbClr val="0E2440"/>
          </a:solidFill>
          <a:ln w="12700">
            <a:solidFill>
              <a:srgbClr val="0E2440"/>
            </a:solidFill>
            <a:prstDash val="solid"/>
          </a:ln>
          <a:effectLst>
            <a:outerShdw sx="100000" sy="100000" kx="0" ky="0" algn="bl" rotWithShape="0" blurRad="63500" dist="25400" dir="8100000">
              <a:srgbClr val="1F3864">
                <a:alpha val="12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438912" y="4170208"/>
            <a:ext cx="5358384" cy="310896"/>
          </a:xfrm>
          <a:prstGeom prst="roundRect">
            <a:avLst>
              <a:gd name="adj" fmla="val 11765"/>
            </a:avLst>
          </a:prstGeom>
          <a:solidFill>
            <a:srgbClr val="543A8C"/>
          </a:solidFill>
          <a:ln/>
        </p:spPr>
      </p:sp>
      <p:sp>
        <p:nvSpPr>
          <p:cNvPr id="16" name="Text 11"/>
          <p:cNvSpPr/>
          <p:nvPr/>
        </p:nvSpPr>
        <p:spPr>
          <a:xfrm>
            <a:off x="438912" y="4170208"/>
            <a:ext cx="5358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ORCHESTRATOR AGENT</a:t>
            </a:r>
            <a:pPr algn="ctr" indent="0" marL="0">
              <a:buNone/>
            </a:pPr>
            <a:r>
              <a:rPr lang="en-US" sz="1000" dirty="0">
                <a:solidFill>
                  <a:srgbClr val="C9B8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 xml:space="preserve">    ·    GPT-5.4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1289304" y="4481104"/>
            <a:ext cx="0" cy="201168"/>
          </a:xfrm>
          <a:prstGeom prst="line">
            <a:avLst/>
          </a:prstGeom>
          <a:noFill/>
          <a:ln w="12700">
            <a:solidFill>
              <a:srgbClr val="6E86A8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438912" y="4682272"/>
            <a:ext cx="1700784" cy="859536"/>
          </a:xfrm>
          <a:prstGeom prst="roundRect">
            <a:avLst>
              <a:gd name="adj" fmla="val 5319"/>
            </a:avLst>
          </a:prstGeom>
          <a:solidFill>
            <a:srgbClr val="7A4FB5"/>
          </a:solidFill>
          <a:ln/>
        </p:spPr>
      </p:sp>
      <p:sp>
        <p:nvSpPr>
          <p:cNvPr id="19" name="Text 14"/>
          <p:cNvSpPr/>
          <p:nvPr/>
        </p:nvSpPr>
        <p:spPr>
          <a:xfrm>
            <a:off x="475488" y="4682272"/>
            <a:ext cx="16276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Intake &amp; Drafting</a:t>
            </a:r>
            <a:endParaRPr lang="en-US" sz="9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E7DB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drafts from templates</a:t>
            </a:r>
            <a:endParaRPr lang="en-US" sz="9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F4C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Claude Opus 4.8</a:t>
            </a:r>
            <a:endParaRPr lang="en-US" sz="950" dirty="0"/>
          </a:p>
        </p:txBody>
      </p:sp>
      <p:sp>
        <p:nvSpPr>
          <p:cNvPr id="20" name="Shape 15"/>
          <p:cNvSpPr/>
          <p:nvPr/>
        </p:nvSpPr>
        <p:spPr>
          <a:xfrm>
            <a:off x="3118104" y="4481104"/>
            <a:ext cx="0" cy="201168"/>
          </a:xfrm>
          <a:prstGeom prst="line">
            <a:avLst/>
          </a:prstGeom>
          <a:noFill/>
          <a:ln w="12700">
            <a:solidFill>
              <a:srgbClr val="6E86A8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2267712" y="4682272"/>
            <a:ext cx="1700784" cy="859536"/>
          </a:xfrm>
          <a:prstGeom prst="roundRect">
            <a:avLst>
              <a:gd name="adj" fmla="val 5319"/>
            </a:avLst>
          </a:prstGeom>
          <a:solidFill>
            <a:srgbClr val="7A4FB5"/>
          </a:solidFill>
          <a:ln/>
        </p:spPr>
      </p:sp>
      <p:sp>
        <p:nvSpPr>
          <p:cNvPr id="22" name="Text 17"/>
          <p:cNvSpPr/>
          <p:nvPr/>
        </p:nvSpPr>
        <p:spPr>
          <a:xfrm>
            <a:off x="2304288" y="4682272"/>
            <a:ext cx="16276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Clause &amp; Risk</a:t>
            </a:r>
            <a:endParaRPr lang="en-US" sz="9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E7DB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extract · compare · score</a:t>
            </a:r>
            <a:endParaRPr lang="en-US" sz="9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F4C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GPT-5.6 Sol</a:t>
            </a:r>
            <a:endParaRPr lang="en-US" sz="950" dirty="0"/>
          </a:p>
        </p:txBody>
      </p:sp>
      <p:sp>
        <p:nvSpPr>
          <p:cNvPr id="23" name="Shape 18"/>
          <p:cNvSpPr/>
          <p:nvPr/>
        </p:nvSpPr>
        <p:spPr>
          <a:xfrm>
            <a:off x="4946904" y="4481104"/>
            <a:ext cx="0" cy="201168"/>
          </a:xfrm>
          <a:prstGeom prst="line">
            <a:avLst/>
          </a:prstGeom>
          <a:noFill/>
          <a:ln w="12700">
            <a:solidFill>
              <a:srgbClr val="6E86A8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4096512" y="4682272"/>
            <a:ext cx="1700784" cy="859536"/>
          </a:xfrm>
          <a:prstGeom prst="roundRect">
            <a:avLst>
              <a:gd name="adj" fmla="val 5319"/>
            </a:avLst>
          </a:prstGeom>
          <a:solidFill>
            <a:srgbClr val="7A4FB5"/>
          </a:solidFill>
          <a:ln/>
        </p:spPr>
      </p:sp>
      <p:sp>
        <p:nvSpPr>
          <p:cNvPr id="25" name="Text 20"/>
          <p:cNvSpPr/>
          <p:nvPr/>
        </p:nvSpPr>
        <p:spPr>
          <a:xfrm>
            <a:off x="4133088" y="4682272"/>
            <a:ext cx="16276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Obligation &amp; Renewal</a:t>
            </a:r>
            <a:endParaRPr lang="en-US" sz="9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E7DB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proactive Teams alerts</a:t>
            </a:r>
            <a:endParaRPr lang="en-US" sz="9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CFE0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GPT-5-mini</a:t>
            </a:r>
            <a:endParaRPr lang="en-US" sz="950" dirty="0"/>
          </a:p>
        </p:txBody>
      </p:sp>
      <p:sp>
        <p:nvSpPr>
          <p:cNvPr id="26" name="Shape 21"/>
          <p:cNvSpPr/>
          <p:nvPr/>
        </p:nvSpPr>
        <p:spPr>
          <a:xfrm>
            <a:off x="438912" y="5669824"/>
            <a:ext cx="5358384" cy="292608"/>
          </a:xfrm>
          <a:prstGeom prst="roundRect">
            <a:avLst>
              <a:gd name="adj" fmla="val 12500"/>
            </a:avLst>
          </a:prstGeom>
          <a:solidFill>
            <a:srgbClr val="13315C"/>
          </a:solidFill>
          <a:ln/>
        </p:spPr>
      </p:sp>
      <p:sp>
        <p:nvSpPr>
          <p:cNvPr id="27" name="Text 22"/>
          <p:cNvSpPr/>
          <p:nvPr/>
        </p:nvSpPr>
        <p:spPr>
          <a:xfrm>
            <a:off x="438912" y="5669824"/>
            <a:ext cx="5358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CFE0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IQ  ·  Azure AI Search  ·  Azure SQL  ·  Bing web search  ·  MCP</a:t>
            </a:r>
            <a:endParaRPr lang="en-US" sz="800" dirty="0"/>
          </a:p>
        </p:txBody>
      </p:sp>
      <p:sp>
        <p:nvSpPr>
          <p:cNvPr id="28" name="Shape 23"/>
          <p:cNvSpPr/>
          <p:nvPr/>
        </p:nvSpPr>
        <p:spPr>
          <a:xfrm>
            <a:off x="438912" y="5999008"/>
            <a:ext cx="5358384" cy="292608"/>
          </a:xfrm>
          <a:prstGeom prst="roundRect">
            <a:avLst>
              <a:gd name="adj" fmla="val 12500"/>
            </a:avLst>
          </a:prstGeom>
          <a:solidFill>
            <a:srgbClr val="13315C"/>
          </a:solidFill>
          <a:ln/>
        </p:spPr>
      </p:sp>
      <p:sp>
        <p:nvSpPr>
          <p:cNvPr id="29" name="Text 24"/>
          <p:cNvSpPr/>
          <p:nvPr/>
        </p:nvSpPr>
        <p:spPr>
          <a:xfrm>
            <a:off x="438912" y="5999008"/>
            <a:ext cx="5358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CFE0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 Insights  ·  Tracing  ·  Evaluations  ·  Content Safety</a:t>
            </a:r>
            <a:endParaRPr lang="en-US" sz="800" dirty="0"/>
          </a:p>
        </p:txBody>
      </p:sp>
      <p:sp>
        <p:nvSpPr>
          <p:cNvPr id="30" name="Text 25"/>
          <p:cNvSpPr/>
          <p:nvPr/>
        </p:nvSpPr>
        <p:spPr>
          <a:xfrm>
            <a:off x="438912" y="6328192"/>
            <a:ext cx="5358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9FE7C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↓  Published to Microsoft 365 Copilot &amp; Teams  (+ proactive alerts)</a:t>
            </a:r>
            <a:endParaRPr lang="en-US" sz="850" dirty="0"/>
          </a:p>
        </p:txBody>
      </p:sp>
      <p:pic>
        <p:nvPicPr>
          <p:cNvPr id="31" name="Image 3" descr="header_gradie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44768" y="822960"/>
            <a:ext cx="5742432" cy="365760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6272784" y="822960"/>
            <a:ext cx="31583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Agenda</a:t>
            </a:r>
            <a:endParaRPr lang="en-US" sz="125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44768" y="1225296"/>
          <a:ext cx="5742432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4370832"/>
              </a:tblGrid>
              <a:tr h="2331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Time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Activity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09:00 – 10:00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Tech Talk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10:00 – 12:30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Team hacking (2h30) — Challenges 0, 1, 2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12:30 – 13:30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Lunch break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13:30 – 15:30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Team hacking (2h) — Challenges 3, 4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15:30 – 16:00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Final discussion / Wrap up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34" name="Image 4" descr="header_gradien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44768" y="2706624"/>
            <a:ext cx="5742432" cy="329184"/>
          </a:xfrm>
          <a:prstGeom prst="rect">
            <a:avLst/>
          </a:prstGeom>
        </p:spPr>
      </p:pic>
      <p:sp>
        <p:nvSpPr>
          <p:cNvPr id="35" name="Text 27"/>
          <p:cNvSpPr/>
          <p:nvPr/>
        </p:nvSpPr>
        <p:spPr>
          <a:xfrm>
            <a:off x="6272784" y="2706624"/>
            <a:ext cx="31583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 Talk</a:t>
            </a:r>
            <a:endParaRPr lang="en-US" sz="1250" dirty="0"/>
          </a:p>
        </p:txBody>
      </p:sp>
      <p:sp>
        <p:nvSpPr>
          <p:cNvPr id="36" name="Text 28"/>
          <p:cNvSpPr/>
          <p:nvPr/>
        </p:nvSpPr>
        <p:spPr>
          <a:xfrm>
            <a:off x="8154619" y="2706624"/>
            <a:ext cx="360456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 xml:space="preserve">Agnostic </a:t>
            </a:r>
            <a:pPr algn="r" indent="0" marL="0">
              <a:buNone/>
            </a:pPr>
            <a:r>
              <a:rPr lang="en-US" sz="850" b="1" dirty="0">
                <a:solidFill>
                  <a:srgbClr val="F4C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HERE</a:t>
            </a:r>
            <a:pPr algn="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 xml:space="preserve"> / FSI-Legal </a:t>
            </a:r>
            <a:pPr algn="r" indent="0" marL="0">
              <a:buNone/>
            </a:pPr>
            <a:r>
              <a:rPr lang="en-US" sz="850" b="1" dirty="0">
                <a:solidFill>
                  <a:srgbClr val="F4C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HERE</a:t>
            </a:r>
            <a:endParaRPr lang="en-US" sz="850" dirty="0"/>
          </a:p>
        </p:txBody>
      </p:sp>
      <p:sp>
        <p:nvSpPr>
          <p:cNvPr id="37" name="Shape 29"/>
          <p:cNvSpPr/>
          <p:nvPr/>
        </p:nvSpPr>
        <p:spPr>
          <a:xfrm>
            <a:off x="6144768" y="3054096"/>
            <a:ext cx="5742432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2700">
            <a:solidFill>
              <a:srgbClr val="C9D6E5"/>
            </a:solidFill>
            <a:prstDash val="solid"/>
          </a:ln>
          <a:effectLst>
            <a:outerShdw sx="100000" sy="100000" kx="0" ky="0" algn="bl" rotWithShape="0" blurRad="63500" dist="25400" dir="8100000">
              <a:srgbClr val="1F3864">
                <a:alpha val="12000"/>
              </a:srgbClr>
            </a:outerShdw>
          </a:effectLst>
        </p:spPr>
      </p:sp>
      <p:sp>
        <p:nvSpPr>
          <p:cNvPr id="38" name="Text 30"/>
          <p:cNvSpPr/>
          <p:nvPr/>
        </p:nvSpPr>
        <p:spPr>
          <a:xfrm>
            <a:off x="6291072" y="3108960"/>
            <a:ext cx="5449824" cy="9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3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Set the stage on Agentic AI + the Foundry platform, the CLM scenario and the IQ family (Foundry IQ / Web IQ). Includes a short demo of the assistant answering in Teams and firing a renewal alert. Two decks: FSI-Legal + industry-agnostic.</a:t>
            </a:r>
            <a:endParaRPr lang="en-US" sz="930" dirty="0"/>
          </a:p>
          <a:p>
            <a:pPr algn="l" indent="0" marL="0">
              <a:spcBef>
                <a:spcPts val="500"/>
              </a:spcBef>
              <a:buNone/>
            </a:pPr>
            <a:r>
              <a:rPr lang="en-US" sz="93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Covers the multi-model, multi-agent pattern (orchestrator + grounded specialists), grounding and citations with Foundry IQ, the GenAIOps loop — tracing, evaluation and safety — and MCP publishing to Microsoft 365 Copilot &amp; Teams. ~45–60 min: slides plus a live demo, no coding required to follow along.</a:t>
            </a:r>
            <a:endParaRPr lang="en-US" sz="930" dirty="0"/>
          </a:p>
        </p:txBody>
      </p:sp>
      <p:pic>
        <p:nvPicPr>
          <p:cNvPr id="39" name="Image 5" descr="header_gradien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44768" y="4096512"/>
            <a:ext cx="5742432" cy="329184"/>
          </a:xfrm>
          <a:prstGeom prst="rect">
            <a:avLst/>
          </a:prstGeom>
        </p:spPr>
      </p:pic>
      <p:sp>
        <p:nvSpPr>
          <p:cNvPr id="40" name="Text 31"/>
          <p:cNvSpPr/>
          <p:nvPr/>
        </p:nvSpPr>
        <p:spPr>
          <a:xfrm>
            <a:off x="6272784" y="4096512"/>
            <a:ext cx="31583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Delivery</a:t>
            </a:r>
            <a:endParaRPr lang="en-US" sz="1250" dirty="0"/>
          </a:p>
        </p:txBody>
      </p:sp>
      <p:sp>
        <p:nvSpPr>
          <p:cNvPr id="41" name="Text 32"/>
          <p:cNvSpPr/>
          <p:nvPr/>
        </p:nvSpPr>
        <p:spPr>
          <a:xfrm>
            <a:off x="8154619" y="4096512"/>
            <a:ext cx="360456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 xml:space="preserve">GitHub Repo </a:t>
            </a:r>
            <a:pPr algn="r" indent="0" marL="0">
              <a:buNone/>
            </a:pPr>
            <a:r>
              <a:rPr lang="en-US" sz="850" b="1" u="sng" dirty="0">
                <a:solidFill>
                  <a:srgbClr val="F4C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HERE</a:t>
            </a:r>
            <a:pPr algn="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 xml:space="preserve"> / Train the Trainer video </a:t>
            </a:r>
            <a:pPr algn="r" indent="0" marL="0">
              <a:buNone/>
            </a:pPr>
            <a:r>
              <a:rPr lang="en-US" sz="850" b="1" dirty="0">
                <a:solidFill>
                  <a:srgbClr val="F4C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HERE</a:t>
            </a:r>
            <a:endParaRPr lang="en-US" sz="85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44768" y="4443984"/>
          <a:ext cx="5742432" cy="914400"/>
        </p:xfrm>
        <a:graphic>
          <a:graphicData uri="http://schemas.openxmlformats.org/drawingml/2006/table">
            <a:tbl>
              <a:tblPr/>
              <a:tblGrid>
                <a:gridCol w="4919472"/>
                <a:gridCol w="822960"/>
              </a:tblGrid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Challenge Description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Duration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   Resource Deployment · Codespaces · .env · Corpus seeding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30′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   Intake &amp; Drafting Agent + Foundry IQ + Tools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60′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   Observability, Tracing &amp; Evaluation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60′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   Clause &amp; Risk Agent + Orchestrator + MCP Server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60′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   Publish to M365 Copilot &amp; Teams + Proactive Alerts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60′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 xml:space="preserve">5   Safety, Red-Teaming &amp; Continuous Eval  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6FB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Bonus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i="1" dirty="0">
                          <a:solidFill>
                            <a:srgbClr val="6B7A8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opt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43" name="Image 6" descr="header_gradient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44768" y="6199632"/>
            <a:ext cx="5742432" cy="329184"/>
          </a:xfrm>
          <a:prstGeom prst="rect">
            <a:avLst/>
          </a:prstGeom>
        </p:spPr>
      </p:pic>
      <p:sp>
        <p:nvSpPr>
          <p:cNvPr id="44" name="Text 33"/>
          <p:cNvSpPr/>
          <p:nvPr/>
        </p:nvSpPr>
        <p:spPr>
          <a:xfrm>
            <a:off x="6272784" y="6199632"/>
            <a:ext cx="49384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Extra Learning Material for Trainers or Participants</a:t>
            </a:r>
            <a:endParaRPr lang="en-US" sz="1100" dirty="0"/>
          </a:p>
        </p:txBody>
      </p:sp>
      <p:sp>
        <p:nvSpPr>
          <p:cNvPr id="45" name="Text 34"/>
          <p:cNvSpPr/>
          <p:nvPr/>
        </p:nvSpPr>
        <p:spPr>
          <a:xfrm>
            <a:off x="8154619" y="6199632"/>
            <a:ext cx="360456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F4C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HERE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Agentic AI Hacks | Contract Lifecycle Management</dc:title>
  <dc:subject>PptxGenJS Presentation</dc:subject>
  <dc:creator>Microhack</dc:creator>
  <cp:lastModifiedBy>Microhack</cp:lastModifiedBy>
  <cp:revision>1</cp:revision>
  <dcterms:created xsi:type="dcterms:W3CDTF">2026-07-19T20:00:20Z</dcterms:created>
  <dcterms:modified xsi:type="dcterms:W3CDTF">2026-07-19T20:00:20Z</dcterms:modified>
</cp:coreProperties>
</file>