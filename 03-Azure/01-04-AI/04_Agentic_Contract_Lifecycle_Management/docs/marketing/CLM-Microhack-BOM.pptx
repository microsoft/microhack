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8" Type="http://schemas.openxmlformats.org/officeDocument/2006/relationships/hyperlink" Target="https://github.com/glejdis/microhack-aiagents" TargetMode="External"/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2.png"/><Relationship Id="rId7" Type="http://schemas.openxmlformats.org/officeDocument/2006/relationships/image" Target="../media/image-1-2.png"/><Relationship Id="rId9" Type="http://schemas.openxmlformats.org/officeDocument/2006/relationships/image" Target="../media/image-1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608" y="128016"/>
            <a:ext cx="11612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AI Hacks</a:t>
            </a:r>
            <a:pPr algn="l" indent="0" marL="0">
              <a:buNone/>
            </a:pPr>
            <a:r>
              <a:rPr lang="en-US" sz="2700" b="1" dirty="0">
                <a:solidFill>
                  <a:srgbClr val="9DB4C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|  </a:t>
            </a:r>
            <a:pPr algn="l" indent="0" marL="0">
              <a:buNone/>
            </a:pPr>
            <a:r>
              <a:rPr lang="en-US" sz="270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Lifecycle Management</a:t>
            </a:r>
            <a:endParaRPr lang="en-US" sz="2700" dirty="0"/>
          </a:p>
        </p:txBody>
      </p:sp>
      <p:pic>
        <p:nvPicPr>
          <p:cNvPr id="3" name="Image 0" descr="header_grad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5650992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20624" y="822960"/>
            <a:ext cx="31080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2270455" y="822960"/>
            <a:ext cx="35451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Reg Page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Invitation Copy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Marketing BOM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pic>
        <p:nvPicPr>
          <p:cNvPr id="6" name="Image 1" descr="header_gradi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80160"/>
            <a:ext cx="5650992" cy="32918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20624" y="12801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case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292608" y="1627632"/>
            <a:ext cx="5650992" cy="161086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38912" y="1700784"/>
            <a:ext cx="5358384" cy="15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Enterprises sign hundreds of contracts a month. Legal &amp; Procurement drown in intake, clause review and renewals — ~17-day turnaround and ~11% of auto-renewals missed.</a:t>
            </a:r>
            <a:endParaRPr lang="en-US" sz="88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CLM is scattered across SharePoint, email and legacy systems; comparing a counterparty draft to the enterprise standard is slow and manual.</a:t>
            </a:r>
            <a:endParaRPr lang="en-US" sz="88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8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Agentic CLM </a:t>
            </a: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puts an orchestrator + grounded specialist agents on top: draft from approved templates, extract and risk-score clauses, answer cited questions, and proactively alert on renewals — with human sign-off and full tracing.</a:t>
            </a:r>
            <a:endParaRPr lang="en-US" sz="88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8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Concretely: </a:t>
            </a: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cited template drafts, risk-scored clauses, and human-approved renewal alerts.</a:t>
            </a:r>
            <a:endParaRPr lang="en-US" sz="880" dirty="0"/>
          </a:p>
          <a:p>
            <a:pPr algn="l" indent="0" marL="0">
              <a:spcBef>
                <a:spcPts val="400"/>
              </a:spcBef>
              <a:buNone/>
            </a:pPr>
            <a:r>
              <a:rPr lang="en-US" sz="880" b="1" dirty="0">
                <a:solidFill>
                  <a:srgbClr val="1F6FB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Beyond FSI &amp; Legal: </a:t>
            </a:r>
            <a:r>
              <a:rPr lang="en-US" sz="88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agentic pattern extends to any contract-heavy function — procurement, sales, HR — so attendees leave with a template they can reuse in their own industry.</a:t>
            </a:r>
            <a:endParaRPr lang="en-US" sz="880" dirty="0"/>
          </a:p>
        </p:txBody>
      </p:sp>
      <p:pic>
        <p:nvPicPr>
          <p:cNvPr id="10" name="Image 2" descr="header_gradi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" y="3328960"/>
            <a:ext cx="5650992" cy="32918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20624" y="3328960"/>
            <a:ext cx="310804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to be built in the Hack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292608" y="3676432"/>
            <a:ext cx="5650992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438912" y="3676432"/>
            <a:ext cx="5358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i="1" dirty="0">
                <a:solidFill>
                  <a:srgbClr val="4458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GPT Orchestrator coordinating 3 grounded specialist agents — a build slice of the 5-agent CLM vision.</a:t>
            </a:r>
            <a:endParaRPr lang="en-US" sz="880" dirty="0"/>
          </a:p>
        </p:txBody>
      </p:sp>
      <p:sp>
        <p:nvSpPr>
          <p:cNvPr id="14" name="Shape 9"/>
          <p:cNvSpPr/>
          <p:nvPr/>
        </p:nvSpPr>
        <p:spPr>
          <a:xfrm>
            <a:off x="292608" y="4042192"/>
            <a:ext cx="5650992" cy="2724912"/>
          </a:xfrm>
          <a:prstGeom prst="roundRect">
            <a:avLst>
              <a:gd name="adj" fmla="val 2349"/>
            </a:avLst>
          </a:prstGeom>
          <a:solidFill>
            <a:srgbClr val="0E2440"/>
          </a:solidFill>
          <a:ln w="12700">
            <a:solidFill>
              <a:srgbClr val="0E2440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8912" y="4170208"/>
            <a:ext cx="5358384" cy="310896"/>
          </a:xfrm>
          <a:prstGeom prst="roundRect">
            <a:avLst>
              <a:gd name="adj" fmla="val 11765"/>
            </a:avLst>
          </a:prstGeom>
          <a:solidFill>
            <a:srgbClr val="543A8C"/>
          </a:solidFill>
          <a:ln/>
        </p:spPr>
      </p:sp>
      <p:sp>
        <p:nvSpPr>
          <p:cNvPr id="16" name="Text 11"/>
          <p:cNvSpPr/>
          <p:nvPr/>
        </p:nvSpPr>
        <p:spPr>
          <a:xfrm>
            <a:off x="438912" y="4170208"/>
            <a:ext cx="5358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ORCHESTRATOR AGENT</a:t>
            </a:r>
            <a:pPr algn="ctr" indent="0" marL="0">
              <a:buNone/>
            </a:pPr>
            <a:r>
              <a:rPr lang="en-US" sz="1000" dirty="0">
                <a:solidFill>
                  <a:srgbClr val="C9B8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·    GPT-5.4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12893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389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19" name="Text 14"/>
          <p:cNvSpPr/>
          <p:nvPr/>
        </p:nvSpPr>
        <p:spPr>
          <a:xfrm>
            <a:off x="4754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&amp; Drafting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drafts from templates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Claude Opus 4.8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31181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2677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2" name="Text 17"/>
          <p:cNvSpPr/>
          <p:nvPr/>
        </p:nvSpPr>
        <p:spPr>
          <a:xfrm>
            <a:off x="23042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Clause &amp; Risk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extract · compare · score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GPT-5.6 Sol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946904" y="4481104"/>
            <a:ext cx="0" cy="201168"/>
          </a:xfrm>
          <a:prstGeom prst="line">
            <a:avLst/>
          </a:prstGeom>
          <a:noFill/>
          <a:ln w="12700">
            <a:solidFill>
              <a:srgbClr val="6E86A8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096512" y="4682272"/>
            <a:ext cx="1700784" cy="859536"/>
          </a:xfrm>
          <a:prstGeom prst="roundRect">
            <a:avLst>
              <a:gd name="adj" fmla="val 5319"/>
            </a:avLst>
          </a:prstGeom>
          <a:solidFill>
            <a:srgbClr val="7A4FB5"/>
          </a:solidFill>
          <a:ln/>
        </p:spPr>
      </p:sp>
      <p:sp>
        <p:nvSpPr>
          <p:cNvPr id="25" name="Text 20"/>
          <p:cNvSpPr/>
          <p:nvPr/>
        </p:nvSpPr>
        <p:spPr>
          <a:xfrm>
            <a:off x="4133088" y="4682272"/>
            <a:ext cx="16276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Obligation &amp; Renewal</a:t>
            </a:r>
            <a:endParaRPr lang="en-US" sz="950" dirty="0"/>
          </a:p>
          <a:p>
            <a:pPr algn="ctr" indent="0" marL="0">
              <a:buNone/>
            </a:pPr>
            <a:r>
              <a:rPr lang="en-US" sz="750" dirty="0">
                <a:solidFill>
                  <a:srgbClr val="E7DBF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Teams alerts</a:t>
            </a:r>
            <a:endParaRPr lang="en-US" sz="95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GPT-5-mini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438912" y="5669824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7" name="Text 22"/>
          <p:cNvSpPr/>
          <p:nvPr/>
        </p:nvSpPr>
        <p:spPr>
          <a:xfrm>
            <a:off x="438912" y="5669824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Foundry IQ  ·  Azure AI Search  ·  Azure SQL  ·  Bing web search  ·  MCP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438912" y="5999008"/>
            <a:ext cx="5358384" cy="292608"/>
          </a:xfrm>
          <a:prstGeom prst="roundRect">
            <a:avLst>
              <a:gd name="adj" fmla="val 12500"/>
            </a:avLst>
          </a:prstGeom>
          <a:solidFill>
            <a:srgbClr val="13315C"/>
          </a:solidFill>
          <a:ln/>
        </p:spPr>
      </p:sp>
      <p:sp>
        <p:nvSpPr>
          <p:cNvPr id="29" name="Text 24"/>
          <p:cNvSpPr/>
          <p:nvPr/>
        </p:nvSpPr>
        <p:spPr>
          <a:xfrm>
            <a:off x="438912" y="5999008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0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 Insights  ·  Tracing  ·  Evaluations  ·  Content Safety</a:t>
            </a:r>
            <a:endParaRPr lang="en-US" sz="800" dirty="0"/>
          </a:p>
        </p:txBody>
      </p:sp>
      <p:sp>
        <p:nvSpPr>
          <p:cNvPr id="30" name="Text 25"/>
          <p:cNvSpPr/>
          <p:nvPr/>
        </p:nvSpPr>
        <p:spPr>
          <a:xfrm>
            <a:off x="438912" y="6328192"/>
            <a:ext cx="5358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FE7C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↓  Published to Microsoft 365 Copilot &amp; Teams  (+ proactive alerts)</a:t>
            </a:r>
            <a:endParaRPr lang="en-US" sz="850" dirty="0"/>
          </a:p>
        </p:txBody>
      </p:sp>
      <p:pic>
        <p:nvPicPr>
          <p:cNvPr id="31" name="Image 3" descr="header_gradi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822960"/>
            <a:ext cx="5742432" cy="36576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272784" y="822960"/>
            <a:ext cx="3158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Agenda</a:t>
            </a:r>
            <a:endParaRPr lang="en-US" sz="12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1225296"/>
          <a:ext cx="574243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370832"/>
              </a:tblGrid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Activity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09:00 – 10:00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Tech Talk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10:00 – 12:30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(2h30) — Challenges 0, 1, 2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12:30 – 13:30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Lunch break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13:30 – 15:30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Team hacking (2h) — Challenges 3, 4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15:30 – 16:00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Final discussion / Wrap up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34" name="Image 4" descr="header_gradien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44768" y="2706624"/>
            <a:ext cx="5742432" cy="329184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6272784" y="2706624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Talk</a:t>
            </a:r>
            <a:endParaRPr lang="en-US" sz="1250" dirty="0"/>
          </a:p>
        </p:txBody>
      </p:sp>
      <p:sp>
        <p:nvSpPr>
          <p:cNvPr id="36" name="Text 28"/>
          <p:cNvSpPr/>
          <p:nvPr/>
        </p:nvSpPr>
        <p:spPr>
          <a:xfrm>
            <a:off x="8154619" y="2706624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Agnostic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FSI-Legal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6144768" y="3054096"/>
            <a:ext cx="5742432" cy="969264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12700">
            <a:solidFill>
              <a:srgbClr val="C9D6E5"/>
            </a:solidFill>
            <a:prstDash val="solid"/>
          </a:ln>
          <a:effectLst>
            <a:outerShdw sx="100000" sy="100000" kx="0" ky="0" algn="bl" rotWithShape="0" blurRad="63500" dist="25400" dir="8100000">
              <a:srgbClr val="1F3864">
                <a:alpha val="12000"/>
              </a:srgbClr>
            </a:outerShdw>
          </a:effectLst>
        </p:spPr>
      </p:sp>
      <p:sp>
        <p:nvSpPr>
          <p:cNvPr id="38" name="Text 30"/>
          <p:cNvSpPr/>
          <p:nvPr/>
        </p:nvSpPr>
        <p:spPr>
          <a:xfrm>
            <a:off x="6291072" y="3108960"/>
            <a:ext cx="5449824" cy="9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short Tech Talk sets the stage on Agentic AI for contracts, in three beats:</a:t>
            </a:r>
            <a:endParaRPr lang="en-US" sz="820" dirty="0"/>
          </a:p>
          <a:p>
            <a:pPr algn="l" indent="0" marL="0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Transformation &amp; impact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moving from copilots to autonomous, reasoning agents — value in speed, risk and compliance, on Azure AI Foundry.</a:t>
            </a:r>
            <a:endParaRPr lang="en-US" sz="820" dirty="0"/>
          </a:p>
          <a:p>
            <a:pPr algn="l" indent="0" marL="0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 &amp; services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multi-model, multi-agent pattern (orchestrator + grounded specialists) and the exact services used — Foundry IQ / Web IQ grounding and citations — familiar before you start.</a:t>
            </a:r>
            <a:endParaRPr lang="en-US" sz="820" dirty="0"/>
          </a:p>
          <a:p>
            <a:pPr algn="l" indent="0" marL="0">
              <a:spcBef>
                <a:spcPts val="200"/>
              </a:spcBef>
              <a:buNone/>
            </a:pPr>
            <a:r>
              <a:rPr lang="en-US" sz="820" b="1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→ Deploy → Operate — </a:t>
            </a:r>
            <a:r>
              <a:rPr lang="en-US" sz="820" dirty="0">
                <a:solidFill>
                  <a:srgbClr val="2B2B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 the agents, run the GenAIOps loop (tracing, evaluation, safety), and publish via MCP to Microsoft 365 Copilot &amp; Teams — capped with a live demo.</a:t>
            </a:r>
            <a:endParaRPr lang="en-US" sz="820" dirty="0"/>
          </a:p>
        </p:txBody>
      </p:sp>
      <p:pic>
        <p:nvPicPr>
          <p:cNvPr id="39" name="Image 5" descr="header_gradi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44768" y="4096512"/>
            <a:ext cx="5742432" cy="329184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6272784" y="4096512"/>
            <a:ext cx="31583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250" dirty="0"/>
          </a:p>
        </p:txBody>
      </p:sp>
      <p:sp>
        <p:nvSpPr>
          <p:cNvPr id="41" name="Text 32"/>
          <p:cNvSpPr/>
          <p:nvPr/>
        </p:nvSpPr>
        <p:spPr>
          <a:xfrm>
            <a:off x="8154619" y="409651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GitHub Repo </a:t>
            </a:r>
            <a:pPr algn="r" indent="0" marL="0">
              <a:buNone/>
            </a:pPr>
            <a:r>
              <a:rPr lang="en-US" sz="850" b="1" u="sng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HERE</a:t>
            </a:r>
            <a:pPr algn="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/ Train the Trainer video </a:t>
            </a:r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44768" y="4443984"/>
          <a:ext cx="5742432" cy="914400"/>
        </p:xfrm>
        <a:graphic>
          <a:graphicData uri="http://schemas.openxmlformats.org/drawingml/2006/table">
            <a:tbl>
              <a:tblPr/>
              <a:tblGrid>
                <a:gridCol w="4919472"/>
                <a:gridCol w="82296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Description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0   Resource Deployment · Codespaces · .env · Corpus seeding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  Intake &amp; Drafting Agent + Foundry IQ + Tools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  Observability, Tracing &amp; Evaluation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  Clause &amp; Risk Agent + Orchestrator + MCP Server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  Publish to M365 Copilot &amp; Teams + Proactive Alerts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60′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 xml:space="preserve">5   Safety, Red-Teaming &amp; Continuous Eval   </a:t>
                      </a:r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6FB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Bonus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i="1" dirty="0">
                          <a:solidFill>
                            <a:srgbClr val="6B7A8D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</a:t>
                      </a:r>
                      <a:endParaRPr lang="en-US" sz="9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3" name="Image 6" descr="header_gradie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44768" y="6199632"/>
            <a:ext cx="5742432" cy="329184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6272784" y="6199632"/>
            <a:ext cx="49384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Extra Learning Material for Trainers or Participants</a:t>
            </a:r>
            <a:endParaRPr lang="en-US" sz="1100" dirty="0"/>
          </a:p>
        </p:txBody>
      </p:sp>
      <p:sp>
        <p:nvSpPr>
          <p:cNvPr id="45" name="Text 34"/>
          <p:cNvSpPr/>
          <p:nvPr/>
        </p:nvSpPr>
        <p:spPr>
          <a:xfrm>
            <a:off x="8154619" y="6199632"/>
            <a:ext cx="36045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F4C4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Hacks | Contract Lifecycle Management</dc:title>
  <dc:subject>PptxGenJS Presentation</dc:subject>
  <dc:creator>Microhack</dc:creator>
  <cp:lastModifiedBy>Microhack</cp:lastModifiedBy>
  <cp:revision>1</cp:revision>
  <dcterms:created xsi:type="dcterms:W3CDTF">2026-07-19T20:00:20Z</dcterms:created>
  <dcterms:modified xsi:type="dcterms:W3CDTF">2026-07-19T20:00:20Z</dcterms:modified>
</cp:coreProperties>
</file>