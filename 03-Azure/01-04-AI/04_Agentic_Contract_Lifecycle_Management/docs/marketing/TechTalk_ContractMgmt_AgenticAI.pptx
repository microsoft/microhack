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CF1AA-6DCA-459E-9B64-2959834C4AF0}" v="3" dt="2026-07-29T18:40:24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ejdis Shkembi" userId="1c63e9c2-f066-4d08-a46c-6f3c67414dab" providerId="ADAL" clId="{D59F3545-C3AF-42EE-AFFA-D09C72A691CB}"/>
    <pc:docChg chg="undo custSel modSld">
      <pc:chgData name="Glejdis Shkembi" userId="1c63e9c2-f066-4d08-a46c-6f3c67414dab" providerId="ADAL" clId="{D59F3545-C3AF-42EE-AFFA-D09C72A691CB}" dt="2026-07-29T18:41:58.234" v="68" actId="14100"/>
      <pc:docMkLst>
        <pc:docMk/>
      </pc:docMkLst>
      <pc:sldChg chg="modSp mod">
        <pc:chgData name="Glejdis Shkembi" userId="1c63e9c2-f066-4d08-a46c-6f3c67414dab" providerId="ADAL" clId="{D59F3545-C3AF-42EE-AFFA-D09C72A691CB}" dt="2026-07-29T18:41:58.234" v="68" actId="14100"/>
        <pc:sldMkLst>
          <pc:docMk/>
          <pc:sldMk cId="0" sldId="256"/>
        </pc:sldMkLst>
        <pc:spChg chg="mod">
          <ac:chgData name="Glejdis Shkembi" userId="1c63e9c2-f066-4d08-a46c-6f3c67414dab" providerId="ADAL" clId="{D59F3545-C3AF-42EE-AFFA-D09C72A691CB}" dt="2026-07-29T18:41:45.010" v="48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38.436" v="47" actId="103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38.436" v="47" actId="103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38.436" v="47" actId="103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32.051" v="30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26.321" v="29" actId="103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58.234" v="68" actId="1410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54.335" v="67" actId="103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54.335" v="67" actId="103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54.335" v="67" actId="103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Glejdis Shkembi" userId="1c63e9c2-f066-4d08-a46c-6f3c67414dab" providerId="ADAL" clId="{D59F3545-C3AF-42EE-AFFA-D09C72A691CB}" dt="2026-07-29T18:41:54.335" v="67" actId="1036"/>
          <ac:spMkLst>
            <pc:docMk/>
            <pc:sldMk cId="0" sldId="256"/>
            <ac:spMk id="45" creationId="{00000000-0000-0000-0000-000000000000}"/>
          </ac:spMkLst>
        </pc:spChg>
        <pc:graphicFrameChg chg="mod">
          <ac:chgData name="Glejdis Shkembi" userId="1c63e9c2-f066-4d08-a46c-6f3c67414dab" providerId="ADAL" clId="{D59F3545-C3AF-42EE-AFFA-D09C72A691CB}" dt="2026-07-29T18:41:54.335" v="67" actId="1036"/>
          <ac:graphicFrameMkLst>
            <pc:docMk/>
            <pc:sldMk cId="0" sldId="256"/>
            <ac:graphicFrameMk id="42" creationId="{00000000-0000-0000-0000-000000000000}"/>
          </ac:graphicFrameMkLst>
        </pc:graphicFrameChg>
        <pc:picChg chg="mod">
          <ac:chgData name="Glejdis Shkembi" userId="1c63e9c2-f066-4d08-a46c-6f3c67414dab" providerId="ADAL" clId="{D59F3545-C3AF-42EE-AFFA-D09C72A691CB}" dt="2026-07-29T18:41:38.436" v="47" actId="1035"/>
          <ac:picMkLst>
            <pc:docMk/>
            <pc:sldMk cId="0" sldId="256"/>
            <ac:picMk id="10" creationId="{00000000-0000-0000-0000-000000000000}"/>
          </ac:picMkLst>
        </pc:picChg>
        <pc:picChg chg="mod">
          <ac:chgData name="Glejdis Shkembi" userId="1c63e9c2-f066-4d08-a46c-6f3c67414dab" providerId="ADAL" clId="{D59F3545-C3AF-42EE-AFFA-D09C72A691CB}" dt="2026-07-29T18:41:54.335" v="67" actId="1036"/>
          <ac:picMkLst>
            <pc:docMk/>
            <pc:sldMk cId="0" sldId="256"/>
            <ac:picMk id="39" creationId="{00000000-0000-0000-0000-000000000000}"/>
          </ac:picMkLst>
        </pc:picChg>
        <pc:picChg chg="mod">
          <ac:chgData name="Glejdis Shkembi" userId="1c63e9c2-f066-4d08-a46c-6f3c67414dab" providerId="ADAL" clId="{D59F3545-C3AF-42EE-AFFA-D09C72A691CB}" dt="2026-07-29T18:41:54.335" v="67" actId="1036"/>
          <ac:picMkLst>
            <pc:docMk/>
            <pc:sldMk cId="0" sldId="256"/>
            <ac:picMk id="4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985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lejdis/microhack-aiagents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microsofteur.sharepoint.com/teams/EMEAMarketingHub/CMO%20Events/Forms/AllItems.aspx?id=%2Fteams%2FEMEAMarketingHub%2FCMO%20Events%2F1%2EFY27%2FEvent%20Programs%2FCloud%20and%20AI%20Hacks%2FCAIP%20Hacks%20Marketing%20BOM&amp;viewid=886f37ff%2D0559%2D4a3d%2D8baa%2Da69ff1f2d0b9&amp;ga=1&amp;or=PPT%2DWEB%2EBODY%2ENT&amp;ct=178534301189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edrive.cloud.microsoft/:w:/a@yp7ml2yu6/S/IQAgjnqs2kzDQa1_8oMFjZ78AW58Rqvkgv1HdMFaSI3P4XA?e=3PkUf2" TargetMode="External"/><Relationship Id="rId5" Type="http://schemas.openxmlformats.org/officeDocument/2006/relationships/hyperlink" Target="https://onedrive.cloud.microsoft/:w:/a@yp7ml2yu6/S/IQBu6DPv66ZSSbQguunLhM7yAZz_spa2_pbaGhRg7wBcHnc?e=WdCsuv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28016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Hacks</a:t>
            </a:r>
            <a:r>
              <a:rPr lang="en-US" sz="2700" b="1" dirty="0">
                <a:solidFill>
                  <a:srgbClr val="9D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Lifecycle Management</a:t>
            </a:r>
            <a:endParaRPr lang="en-US" sz="2700" dirty="0"/>
          </a:p>
        </p:txBody>
      </p:sp>
      <p:pic>
        <p:nvPicPr>
          <p:cNvPr id="3" name="Image 0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822960"/>
            <a:ext cx="5650992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" y="822960"/>
            <a:ext cx="31080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270455" y="8229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Page Copy </a:t>
            </a: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/>
              </a:rPr>
              <a:t>HERE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Invitation Copy </a:t>
            </a: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/>
              </a:rPr>
              <a:t>HERE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Marketing BOM </a:t>
            </a: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/>
              </a:rPr>
              <a:t>HERE</a:t>
            </a:r>
            <a:endParaRPr lang="en-US" sz="850" dirty="0"/>
          </a:p>
        </p:txBody>
      </p:sp>
      <p:pic>
        <p:nvPicPr>
          <p:cNvPr id="6" name="Image 1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280160"/>
            <a:ext cx="5650992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624" y="128016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92608" y="1627632"/>
            <a:ext cx="5650992" cy="178937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63500" dist="25400" dir="81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5"/>
          <p:cNvSpPr/>
          <p:nvPr/>
        </p:nvSpPr>
        <p:spPr>
          <a:xfrm>
            <a:off x="438912" y="1700784"/>
            <a:ext cx="5358384" cy="15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organization runs on contracts. Drafts arrive in mixed formats, clause libraries go unused, reviews stall in inboxes, and obligations slip after signature.</a:t>
            </a:r>
            <a:endParaRPr lang="en-US" sz="85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sz="8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a third-party draft to the enterprise standard is slow and manual, so deviations and missed renewals go unnoticed until they cost money.</a:t>
            </a:r>
            <a:endParaRPr lang="en-US" sz="85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CLM </a:t>
            </a:r>
            <a:r>
              <a:rPr lang="en-US" sz="8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puts an orchestrator + grounded specialist agents on top: draft from approved templates, extract and risk-score clauses, route reviews, capture e-signatures, and track obligations — with human sign-off and full tracing.</a:t>
            </a:r>
            <a:endParaRPr lang="en-US" sz="85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</a:t>
            </a:r>
            <a:r>
              <a:rPr lang="en-US" sz="8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~30–50% faster request-to-signature, ~15–30% less outside counsel &amp; rework, and ~2–5% less revenue leakage from missed renewals.</a:t>
            </a:r>
            <a:endParaRPr lang="en-US" sz="85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Cross-industry: </a:t>
            </a:r>
            <a:r>
              <a:rPr lang="en-US" sz="8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sector runs on contracts, so the same pattern serves legal, procurement and sales in any business — attendees leave with a reusable template.</a:t>
            </a:r>
            <a:endParaRPr lang="en-US" sz="850" dirty="0"/>
          </a:p>
        </p:txBody>
      </p:sp>
      <p:pic>
        <p:nvPicPr>
          <p:cNvPr id="10" name="Image 2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490330"/>
            <a:ext cx="5650992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" y="349033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to be built in the Hack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292608" y="3837802"/>
            <a:ext cx="565099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63500" dist="25400" dir="81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8"/>
          <p:cNvSpPr/>
          <p:nvPr/>
        </p:nvSpPr>
        <p:spPr>
          <a:xfrm>
            <a:off x="438912" y="3837802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i="1" dirty="0">
                <a:solidFill>
                  <a:srgbClr val="4458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GPT Orchestrator coordinating 3 grounded specialist agents.</a:t>
            </a:r>
            <a:endParaRPr lang="en-US" sz="880" dirty="0"/>
          </a:p>
        </p:txBody>
      </p:sp>
      <p:sp>
        <p:nvSpPr>
          <p:cNvPr id="14" name="Shape 9"/>
          <p:cNvSpPr/>
          <p:nvPr/>
        </p:nvSpPr>
        <p:spPr>
          <a:xfrm>
            <a:off x="292608" y="4240306"/>
            <a:ext cx="5650992" cy="2526798"/>
          </a:xfrm>
          <a:prstGeom prst="roundRect">
            <a:avLst>
              <a:gd name="adj" fmla="val 2349"/>
            </a:avLst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blurRad="63500" dist="25400" dir="81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0"/>
          <p:cNvSpPr/>
          <p:nvPr/>
        </p:nvSpPr>
        <p:spPr>
          <a:xfrm>
            <a:off x="438912" y="4322613"/>
            <a:ext cx="5358384" cy="310896"/>
          </a:xfrm>
          <a:prstGeom prst="roundRect">
            <a:avLst>
              <a:gd name="adj" fmla="val 11765"/>
            </a:avLst>
          </a:prstGeom>
          <a:solidFill>
            <a:srgbClr val="543A8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1"/>
          <p:cNvSpPr/>
          <p:nvPr/>
        </p:nvSpPr>
        <p:spPr>
          <a:xfrm>
            <a:off x="438912" y="4322613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AGENT</a:t>
            </a:r>
            <a:r>
              <a:rPr lang="en-US" sz="1000" dirty="0">
                <a:solidFill>
                  <a:srgbClr val="C9B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·    GPT-5.4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289304" y="4633509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3"/>
          <p:cNvSpPr/>
          <p:nvPr/>
        </p:nvSpPr>
        <p:spPr>
          <a:xfrm>
            <a:off x="438912" y="4834677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4"/>
          <p:cNvSpPr/>
          <p:nvPr/>
        </p:nvSpPr>
        <p:spPr>
          <a:xfrm>
            <a:off x="475488" y="4834677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&amp; Drafting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from templates</a:t>
            </a:r>
            <a:endParaRPr lang="en-US" sz="9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Opus 4.8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118104" y="4633509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Shape 16"/>
          <p:cNvSpPr/>
          <p:nvPr/>
        </p:nvSpPr>
        <p:spPr>
          <a:xfrm>
            <a:off x="2267712" y="4834677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17"/>
          <p:cNvSpPr/>
          <p:nvPr/>
        </p:nvSpPr>
        <p:spPr>
          <a:xfrm>
            <a:off x="2304288" y="4834677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&amp; Risk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· compare · score</a:t>
            </a:r>
            <a:endParaRPr lang="en-US" sz="9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GPT-5.6 Sol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946904" y="4633509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19"/>
          <p:cNvSpPr/>
          <p:nvPr/>
        </p:nvSpPr>
        <p:spPr>
          <a:xfrm>
            <a:off x="4096512" y="4834677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0"/>
          <p:cNvSpPr/>
          <p:nvPr/>
        </p:nvSpPr>
        <p:spPr>
          <a:xfrm>
            <a:off x="4133088" y="4834677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&amp; Renewal</a:t>
            </a:r>
            <a:endParaRPr lang="en-US" sz="9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Teams alerts</a:t>
            </a:r>
            <a:endParaRPr lang="en-US" sz="9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GPT-5-mini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38912" y="5822229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7" name="Text 22"/>
          <p:cNvSpPr/>
          <p:nvPr/>
        </p:nvSpPr>
        <p:spPr>
          <a:xfrm>
            <a:off x="438912" y="5822229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  ·  Azure AI Search  ·  Azure SQL  ·  Bing web search  ·  MCP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8912" y="6151413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4"/>
          <p:cNvSpPr/>
          <p:nvPr/>
        </p:nvSpPr>
        <p:spPr>
          <a:xfrm>
            <a:off x="438912" y="6151413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  ·  Tracing  ·  Evaluations  ·  Content Safety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38912" y="6480597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E7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Published to Microsoft 365 Copilot &amp; Teams  (+ proactive alerts)</a:t>
            </a:r>
            <a:endParaRPr lang="en-US" sz="850" dirty="0"/>
          </a:p>
        </p:txBody>
      </p:sp>
      <p:pic>
        <p:nvPicPr>
          <p:cNvPr id="31" name="Image 3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822960"/>
            <a:ext cx="5742432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72784" y="822960"/>
            <a:ext cx="3158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60394"/>
              </p:ext>
            </p:extLst>
          </p:nvPr>
        </p:nvGraphicFramePr>
        <p:xfrm>
          <a:off x="6144768" y="1225296"/>
          <a:ext cx="5742432" cy="13990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0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09:00 – 10:00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 Talk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10:00 – 12:30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(2h30) — Challenges 1, 2,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12:30 – 13:30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Lunch break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13:30 – 15:30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(2h) — Challenges 4, 5,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15:30 – 16:00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 discussion / Wrap up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4" name="Image 4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706624"/>
            <a:ext cx="5742432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72784" y="2706624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Talk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154619" y="2706624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Cross-industry deck </a:t>
            </a: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6144768" y="3054096"/>
            <a:ext cx="5742432" cy="111289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blurRad="63500" dist="25400" dir="8100000" algn="bl" rotWithShape="0">
              <a:srgbClr val="1F3864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8" name="Text 30"/>
          <p:cNvSpPr/>
          <p:nvPr/>
        </p:nvSpPr>
        <p:spPr>
          <a:xfrm>
            <a:off x="6291072" y="3108960"/>
            <a:ext cx="5449824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short Tech Talk sets the stage on Agentic AI for contracts, in three beats:</a:t>
            </a:r>
            <a:endParaRPr lang="en-US" sz="82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&amp; impact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from copilots to autonomous, reasoning agents — value in speed, risk and compliance, on Azure AI Foundry.</a:t>
            </a:r>
            <a:endParaRPr lang="en-US" sz="82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services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multi-model, multi-agent pattern (orchestrator + grounded specialists) and the exact services used — Foundry IQ / Web IQ grounding and citations — familiar before you start.</a:t>
            </a:r>
            <a:endParaRPr lang="en-US" sz="820" dirty="0"/>
          </a:p>
          <a:p>
            <a:pPr marL="0" indent="0" algn="l">
              <a:spcBef>
                <a:spcPts val="200"/>
              </a:spcBef>
              <a:buNone/>
            </a:pPr>
            <a:r>
              <a:rPr lang="en-US" sz="82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→ Deploy → Operate — </a:t>
            </a:r>
            <a:r>
              <a:rPr lang="en-US" sz="82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agents, run the GenAIOps loop (tracing, evaluation, safety), and publish to Microsoft 365 Copilot &amp; Teams — capped with a live demo.</a:t>
            </a:r>
            <a:endParaRPr lang="en-US" sz="820" dirty="0"/>
          </a:p>
        </p:txBody>
      </p:sp>
      <p:pic>
        <p:nvPicPr>
          <p:cNvPr id="39" name="Image 5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4266847"/>
            <a:ext cx="5742432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72784" y="4266847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154619" y="4266847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 </a:t>
            </a:r>
            <a:r>
              <a:rPr lang="en-US" sz="850" b="1" u="sng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Train the Trainer video </a:t>
            </a: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graphicFrame>
        <p:nvGraphicFramePr>
          <p:cNvPr id="4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97555"/>
              </p:ext>
            </p:extLst>
          </p:nvPr>
        </p:nvGraphicFramePr>
        <p:xfrm>
          <a:off x="6144768" y="4614319"/>
          <a:ext cx="5742432" cy="1600200"/>
        </p:xfrm>
        <a:graphic>
          <a:graphicData uri="http://schemas.openxmlformats.org/drawingml/2006/table">
            <a:tbl>
              <a:tblPr/>
              <a:tblGrid>
                <a:gridCol w="4919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 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  Resource Deployment · Codespaces · .env · Corpus seeding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  Intake &amp; Drafting Agent + Foundry IQ + Tools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  Observability, Tracing &amp; Evaluation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  Clause &amp; Risk Agent + Orchestrator + MCP Server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  Publish to M365 Copilot &amp; Teams + Proactive Alerts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  Safety, Red-Teaming &amp; Continuous Eval   </a:t>
                      </a:r>
                      <a:r>
                        <a:rPr lang="en-US" sz="900" b="1" dirty="0">
                          <a:solidFill>
                            <a:srgbClr val="1F6F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i="1" dirty="0">
                          <a:solidFill>
                            <a:srgbClr val="6B7A8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3" name="Image 6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6369967"/>
            <a:ext cx="5742432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272784" y="6369967"/>
            <a:ext cx="4938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Learning Material for Trainers or Participants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8154619" y="6369967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511</Words>
  <Application>Microsoft Office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Hacks | Contract Lifecycle Management</dc:title>
  <dc:subject>PptxGenJS Presentation</dc:subject>
  <dc:creator>Microhack</dc:creator>
  <cp:lastModifiedBy>Glejdis Shkembi</cp:lastModifiedBy>
  <cp:revision>2</cp:revision>
  <dcterms:created xsi:type="dcterms:W3CDTF">2026-07-19T20:00:20Z</dcterms:created>
  <dcterms:modified xsi:type="dcterms:W3CDTF">2026-07-29T18:41:59Z</dcterms:modified>
</cp:coreProperties>
</file>